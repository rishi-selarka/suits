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0972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65176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AF9EA"/>
                </a:solidFill>
                <a:latin typeface="Arial"/>
              </a:defRPr>
            </a:pPr>
            <a:r>
              <a:t>SUITS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5AD7A"/>
                </a:solidFill>
                <a:latin typeface="Arial"/>
              </a:defRPr>
            </a:pPr>
            <a:r>
              <a:t>Your Legal Intelligence, Tailored to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29768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1A1AA"/>
                </a:solidFill>
                <a:latin typeface="Arial"/>
              </a:defRPr>
            </a:pPr>
            <a:r>
              <a:t>Multi-Agent AI System for Legal Document Analysis &amp; Decision Support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5029200"/>
            <a:ext cx="2133295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28800" y="521208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1A1AA"/>
                </a:solidFill>
                <a:latin typeface="Arial"/>
              </a:defRPr>
            </a:pPr>
            <a:r>
              <a:t>RNSIT Agentic AI Hackathon  |  Problem Statement 3  |  AI Legal Document Action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A6B2B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2560320" cy="36576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9EA"/>
                </a:solidFill>
                <a:latin typeface="Arial"/>
              </a:defRPr>
            </a:pPr>
            <a:r>
              <a:t>Everyone signs legal documents.</a:t>
            </a:r>
            <a:br/>
            <a:r>
              <a:t>Very few truly understand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303520" cy="16916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54864" cy="1691640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697480"/>
            <a:ext cx="365760" cy="365760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9EA"/>
                </a:solidFill>
                <a:latin typeface="Arial"/>
              </a:defRPr>
            </a:pPr>
            <a:r>
              <a:t>Complex Language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1752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Rental agreements, NDAs, and terms of service are filled</a:t>
            </a:r>
            <a:br/>
            <a:r>
              <a:t>with legal jargon — creating a dangerous gap between</a:t>
            </a:r>
            <a:br/>
            <a:r>
              <a:t>what people sign and what they actually understand.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68880"/>
            <a:ext cx="5303520" cy="16916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468880"/>
            <a:ext cx="54864" cy="1691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269748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9EA"/>
                </a:solidFill>
                <a:latin typeface="Arial"/>
              </a:defRPr>
            </a:pPr>
            <a:r>
              <a:t>Hidden Risks &amp; Obligations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01752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Critical penalties, liability clauses, and auto-renewal traps</a:t>
            </a:r>
            <a:br/>
            <a:r>
              <a:t>are buried in dense paragraphs. Easy to miss, costly to overlook.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5303520" cy="16916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434840"/>
            <a:ext cx="54864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66344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17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9EA"/>
                </a:solidFill>
                <a:latin typeface="Arial"/>
              </a:defRPr>
            </a:pPr>
            <a:r>
              <a:t>No Accessible Guidance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9834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Most people can't afford a lawyer for every document.</a:t>
            </a:r>
            <a:br/>
            <a:r>
              <a:t>They need a smart assistant that makes legal text approachable.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434840"/>
            <a:ext cx="5303520" cy="16916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434840"/>
            <a:ext cx="54864" cy="16916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0" y="4663440"/>
            <a:ext cx="365760" cy="3657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617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9EA"/>
                </a:solidFill>
                <a:latin typeface="Arial"/>
              </a:defRPr>
            </a:pPr>
            <a:r>
              <a:t>Uninformed Decision-Making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9834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Without understanding what they're agreeing to, people sign</a:t>
            </a:r>
            <a:br/>
            <a:r>
              <a:t>away rights, accept unfair terms, and expose themselves to risk.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RNSIT Agentic AI Hackathon  |  PS-3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519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6B2B"/>
                </a:solidFill>
                <a:latin typeface="Arial"/>
              </a:defRPr>
            </a:pPr>
            <a:r>
              <a:t>Suits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A6B2B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2560320" cy="36576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9EA"/>
                </a:solidFill>
                <a:latin typeface="Arial"/>
              </a:defRPr>
            </a:pPr>
            <a:r>
              <a:t>Suits AI — A Multi-Agent Legal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Arial"/>
              </a:defRPr>
            </a:pPr>
            <a:r>
              <a:t>6 specialized AI agents work together to analyze, simplify, assess risk,</a:t>
            </a:r>
            <a:br/>
            <a:r>
              <a:t>benchmark, advise, and verify — so you can make informed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383280" cy="17373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724912"/>
            <a:ext cx="502920" cy="45720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9EA"/>
                </a:solidFill>
                <a:latin typeface="Arial"/>
              </a:defRPr>
            </a:pPr>
            <a:r>
              <a:t>Plain Language</a:t>
            </a:r>
            <a:br/>
            <a:r>
              <a:t>Simplifier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Breaks down complex legal</a:t>
            </a:r>
            <a:br/>
            <a:r>
              <a:t>text into simple English</a:t>
            </a:r>
            <a:br/>
            <a:r>
              <a:t>anyone can understand.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560320"/>
            <a:ext cx="3383280" cy="17373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39" y="2724912"/>
            <a:ext cx="5029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8803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9EA"/>
                </a:solidFill>
                <a:latin typeface="Arial"/>
              </a:defRPr>
            </a:pPr>
            <a:r>
              <a:t>Clause-Level</a:t>
            </a:r>
            <a:br/>
            <a:r>
              <a:t>Risk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34290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Scores every clause 1-10,</a:t>
            </a:r>
            <a:br/>
            <a:r>
              <a:t>flags dangerous patterns</a:t>
            </a:r>
            <a:br/>
            <a:r>
              <a:t>with color-coded alerts.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9" y="2560320"/>
            <a:ext cx="3383280" cy="17373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79" y="2724912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9" y="28803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9EA"/>
                </a:solidFill>
                <a:latin typeface="Arial"/>
              </a:defRPr>
            </a:pPr>
            <a:r>
              <a:t>Contextual</a:t>
            </a:r>
            <a:br/>
            <a:r>
              <a:t>Q&amp;A via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34290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Ask questions about your</a:t>
            </a:r>
            <a:br/>
            <a:r>
              <a:t>document — get clear,</a:t>
            </a:r>
            <a:br/>
            <a:r>
              <a:t>source-grounded answers.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3383280" cy="17373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736592"/>
            <a:ext cx="502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9EA"/>
                </a:solidFill>
                <a:latin typeface="Arial"/>
              </a:defRPr>
            </a:pPr>
            <a:r>
              <a:t>Industry</a:t>
            </a:r>
            <a:br/>
            <a:r>
              <a:t>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Compares your clauses</a:t>
            </a:r>
            <a:br/>
            <a:r>
              <a:t>against fair market</a:t>
            </a:r>
            <a:br/>
            <a:r>
              <a:t>standard terms.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572000"/>
            <a:ext cx="3383280" cy="17373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39" y="4736592"/>
            <a:ext cx="502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39" y="4892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9EA"/>
                </a:solidFill>
                <a:latin typeface="Arial"/>
              </a:defRPr>
            </a:pPr>
            <a:r>
              <a:t>AI vs AI</a:t>
            </a:r>
            <a:br/>
            <a:r>
              <a:t>Negotiator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54406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Two AI agents debate</a:t>
            </a:r>
            <a:br/>
            <a:r>
              <a:t>your contract — Advocate</a:t>
            </a:r>
            <a:br/>
            <a:r>
              <a:t>vs Challenger.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9" y="4572000"/>
            <a:ext cx="3383280" cy="17373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79" y="4736592"/>
            <a:ext cx="502920" cy="45720"/>
          </a:xfrm>
          <a:prstGeom prst="rect">
            <a:avLst/>
          </a:prstGeom>
          <a:solidFill>
            <a:srgbClr val="E07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9" y="4892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9EA"/>
                </a:solidFill>
                <a:latin typeface="Arial"/>
              </a:defRPr>
            </a:pPr>
            <a:r>
              <a:t>Verified</a:t>
            </a:r>
            <a:br/>
            <a:r>
              <a:t>Final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9" y="54406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Hallucination guard catches</a:t>
            </a:r>
            <a:br/>
            <a:r>
              <a:t>errors before the final</a:t>
            </a:r>
            <a:br/>
            <a:r>
              <a:t>advisory is delivered.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RNSIT Agentic AI Hackathon  |  PS-3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519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6B2B"/>
                </a:solidFill>
                <a:latin typeface="Arial"/>
              </a:defRPr>
            </a:pPr>
            <a:r>
              <a:t>Suits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A6B2B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2560320" cy="36576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9EA"/>
                </a:solidFill>
                <a:latin typeface="Arial"/>
              </a:defRPr>
            </a:pPr>
            <a:r>
              <a:t>Multi-Agent DAG Pipeline — 3 Waves +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240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1A1AA"/>
                </a:solidFill>
                <a:latin typeface="Arial"/>
              </a:defRPr>
            </a:pPr>
            <a:r>
              <a:t>INPUT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20" y="2404872"/>
            <a:ext cx="45720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" y="3246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A6B2B"/>
                </a:solidFill>
                <a:latin typeface="Arial"/>
              </a:defRPr>
            </a:pPr>
            <a:r>
              <a:t>WAVE 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3410712"/>
            <a:ext cx="45720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4297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A6B2B"/>
                </a:solidFill>
                <a:latin typeface="Arial"/>
              </a:defRPr>
            </a:pPr>
            <a:r>
              <a:t>WAVE 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8720" y="4462272"/>
            <a:ext cx="45720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A6B2B"/>
                </a:solidFill>
                <a:latin typeface="Arial"/>
              </a:defRPr>
            </a:pPr>
            <a:r>
              <a:t>WAVE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720" y="5513832"/>
            <a:ext cx="45720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54880" y="2011680"/>
            <a:ext cx="2011680" cy="7772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AF9EA"/>
                </a:solidFill>
                <a:latin typeface="Arial"/>
              </a:defRPr>
            </a:pPr>
            <a:r>
              <a:t>Document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7889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1A1AA"/>
                </a:solidFill>
                <a:latin typeface="Arial"/>
              </a:defRPr>
            </a:pPr>
            <a:r>
              <a:t>PyMuPDF + OCR + LLM Segmenter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108960"/>
            <a:ext cx="2011680" cy="7772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DA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AF9EA"/>
                </a:solidFill>
                <a:latin typeface="Arial"/>
              </a:defRPr>
            </a:pPr>
            <a:r>
              <a:t>Clause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8862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AD7A"/>
                </a:solidFill>
                <a:latin typeface="Arial"/>
              </a:defRPr>
            </a:pPr>
            <a:r>
              <a:t>Claude Sonnet 4.5  (blocking)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3108960"/>
            <a:ext cx="2011680" cy="7772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AF9EA"/>
                </a:solidFill>
                <a:latin typeface="Arial"/>
              </a:defRPr>
            </a:pPr>
            <a:r>
              <a:t>Plain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8862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AD7A"/>
                </a:solidFill>
                <a:latin typeface="Arial"/>
              </a:defRPr>
            </a:pPr>
            <a:r>
              <a:t>Claude Sonnet 4.5  (non-blocking)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1A1AA"/>
                </a:solidFill>
                <a:latin typeface="Arial"/>
              </a:defRPr>
            </a:pPr>
            <a:r>
              <a:t>parallel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4160520"/>
            <a:ext cx="2011680" cy="7772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AF9EA"/>
                </a:solidFill>
                <a:latin typeface="Arial"/>
              </a:defRPr>
            </a:pPr>
            <a:r>
              <a:t>Risk Analyzer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9377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AD7A"/>
                </a:solidFill>
                <a:latin typeface="Arial"/>
              </a:defRPr>
            </a:pPr>
            <a:r>
              <a:t>Claude Sonnet 4.5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4160520"/>
            <a:ext cx="2011680" cy="7772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AF9EA"/>
                </a:solidFill>
                <a:latin typeface="Arial"/>
              </a:defRPr>
            </a:pPr>
            <a:r>
              <a:t>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9377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AD7A"/>
                </a:solidFill>
                <a:latin typeface="Arial"/>
              </a:defRPr>
            </a:pPr>
            <a:r>
              <a:t>Claude Sonnet 4.5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389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1A1AA"/>
                </a:solidFill>
                <a:latin typeface="Arial"/>
              </a:defRPr>
            </a:pPr>
            <a:r>
              <a:t>parallel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5212080"/>
            <a:ext cx="2011680" cy="7772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AF9EA"/>
                </a:solidFill>
                <a:latin typeface="Arial"/>
              </a:defRPr>
            </a:pPr>
            <a:r>
              <a:t>Advisory Synthesis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9893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AD7A"/>
                </a:solidFill>
                <a:latin typeface="Arial"/>
              </a:defRPr>
            </a:pPr>
            <a:r>
              <a:t>Claude Sonnet 4.5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5212080"/>
            <a:ext cx="2011680" cy="7772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AF9EA"/>
                </a:solidFill>
                <a:latin typeface="Arial"/>
              </a:defRPr>
            </a:pPr>
            <a:r>
              <a:t>Hallucination Verifier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9893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AD7A"/>
                </a:solidFill>
                <a:latin typeface="Arial"/>
              </a:defRPr>
            </a:pPr>
            <a:r>
              <a:t>Claude Sonnet 4.5  (critic)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440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1A1AA"/>
                </a:solidFill>
                <a:latin typeface="Arial"/>
              </a:defRPr>
            </a:pPr>
            <a:r>
              <a:t>sequential  →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931920" y="2990088"/>
            <a:ext cx="1828800" cy="73152"/>
          </a:xfrm>
          <a:prstGeom prst="line">
            <a:avLst/>
          </a:prstGeom>
          <a:ln w="25400">
            <a:solidFill>
              <a:srgbClr val="DA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760720" y="2990088"/>
            <a:ext cx="2286000" cy="73152"/>
          </a:xfrm>
          <a:prstGeom prst="line">
            <a:avLst/>
          </a:prstGeom>
          <a:ln w="25400">
            <a:solidFill>
              <a:srgbClr val="DA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931920" y="4087368"/>
            <a:ext cx="0" cy="27432"/>
          </a:xfrm>
          <a:prstGeom prst="line">
            <a:avLst/>
          </a:prstGeom>
          <a:ln w="25400">
            <a:solidFill>
              <a:srgbClr val="DA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46720" y="4087368"/>
            <a:ext cx="0" cy="27432"/>
          </a:xfrm>
          <a:prstGeom prst="line">
            <a:avLst/>
          </a:prstGeom>
          <a:ln w="25400">
            <a:solidFill>
              <a:srgbClr val="DA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931920" y="5138928"/>
            <a:ext cx="0" cy="27432"/>
          </a:xfrm>
          <a:prstGeom prst="line">
            <a:avLst/>
          </a:prstGeom>
          <a:ln w="25400">
            <a:solidFill>
              <a:srgbClr val="DA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46720" y="5138928"/>
            <a:ext cx="0" cy="27432"/>
          </a:xfrm>
          <a:prstGeom prst="line">
            <a:avLst/>
          </a:prstGeom>
          <a:ln w="25400">
            <a:solidFill>
              <a:srgbClr val="DA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029200" y="5600700"/>
            <a:ext cx="1920240" cy="0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60120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A6B2B"/>
                </a:solidFill>
                <a:latin typeface="Arial"/>
              </a:defRPr>
            </a:pPr>
            <a:r>
              <a:t>KEY PROPERTIES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01200" y="2286000"/>
            <a:ext cx="1828800" cy="0"/>
          </a:xfrm>
          <a:prstGeom prst="line">
            <a:avLst/>
          </a:prstGeom>
          <a:ln w="12700">
            <a:solidFill>
              <a:srgbClr val="DA6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601200" y="2514600"/>
            <a:ext cx="137160" cy="137160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124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6 Specialized AI Agents</a:t>
            </a:r>
          </a:p>
        </p:txBody>
      </p:sp>
      <p:sp>
        <p:nvSpPr>
          <p:cNvPr id="41" name="Oval 40"/>
          <p:cNvSpPr/>
          <p:nvPr/>
        </p:nvSpPr>
        <p:spPr>
          <a:xfrm>
            <a:off x="9601200" y="2880360"/>
            <a:ext cx="137160" cy="137160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2834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3 Parallel Execution Waves</a:t>
            </a:r>
          </a:p>
        </p:txBody>
      </p:sp>
      <p:sp>
        <p:nvSpPr>
          <p:cNvPr id="43" name="Oval 42"/>
          <p:cNvSpPr/>
          <p:nvPr/>
        </p:nvSpPr>
        <p:spPr>
          <a:xfrm>
            <a:off x="9601200" y="3246120"/>
            <a:ext cx="137160" cy="137160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21240" y="3200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Graceful Partial Failure Handling</a:t>
            </a:r>
          </a:p>
        </p:txBody>
      </p:sp>
      <p:sp>
        <p:nvSpPr>
          <p:cNvPr id="45" name="Oval 44"/>
          <p:cNvSpPr/>
          <p:nvPr/>
        </p:nvSpPr>
        <p:spPr>
          <a:xfrm>
            <a:off x="9601200" y="3611880"/>
            <a:ext cx="137160" cy="137160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3566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Cross-Clause Verification</a:t>
            </a:r>
          </a:p>
        </p:txBody>
      </p:sp>
      <p:sp>
        <p:nvSpPr>
          <p:cNvPr id="47" name="Oval 46"/>
          <p:cNvSpPr/>
          <p:nvPr/>
        </p:nvSpPr>
        <p:spPr>
          <a:xfrm>
            <a:off x="9601200" y="3977640"/>
            <a:ext cx="137160" cy="137160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2124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Real-Time SSE Progress Streaming</a:t>
            </a:r>
          </a:p>
        </p:txBody>
      </p:sp>
      <p:sp>
        <p:nvSpPr>
          <p:cNvPr id="49" name="Oval 48"/>
          <p:cNvSpPr/>
          <p:nvPr/>
        </p:nvSpPr>
        <p:spPr>
          <a:xfrm>
            <a:off x="9601200" y="4343400"/>
            <a:ext cx="137160" cy="137160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4297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Multi-Model via OpenRouter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RNSIT Agentic AI Hackathon  |  PS-3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6519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6B2B"/>
                </a:solidFill>
                <a:latin typeface="Arial"/>
              </a:defRPr>
            </a:pPr>
            <a:r>
              <a:t>Suits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A6B2B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2560320" cy="36576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9EA"/>
                </a:solidFill>
                <a:latin typeface="Arial"/>
              </a:defRPr>
            </a:pPr>
            <a:r>
              <a:t>Built for Speed, Reliability &amp; Multi-Model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19202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45720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6B2B"/>
                </a:solidFill>
                <a:latin typeface="Arial"/>
              </a:defRPr>
            </a:pPr>
            <a:r>
              <a:t>Backend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2633472"/>
            <a:ext cx="141732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0120" y="2743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Arial"/>
              </a:defRPr>
            </a:pPr>
            <a:r>
              <a:t>Python 3.11+ / FastAPI</a:t>
            </a:r>
            <a:br/>
            <a:r>
              <a:t>Async everywhere</a:t>
            </a:r>
            <a:br/>
            <a:r>
              <a:t>SSE streaming via Starlette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103120"/>
            <a:ext cx="3383280" cy="19202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38328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Arial"/>
              </a:defRPr>
            </a:pPr>
            <a:r>
              <a:t>AI / LLM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59" y="2633472"/>
            <a:ext cx="141732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09159" y="2743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Arial"/>
              </a:defRPr>
            </a:pPr>
            <a:r>
              <a:t>Claude Sonnet 4.5 (Anthropic)</a:t>
            </a:r>
            <a:br/>
            <a:r>
              <a:t>GPT-4o-mini / Gemini 2.0 Flash</a:t>
            </a:r>
            <a:br/>
            <a:r>
              <a:t>Routed via OpenRouter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2103120"/>
            <a:ext cx="3383280" cy="19202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9" y="2103120"/>
            <a:ext cx="33832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9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Arial"/>
              </a:defRPr>
            </a:pPr>
            <a:r>
              <a:t>RAG Pipeline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58199" y="2633472"/>
            <a:ext cx="141732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58199" y="2743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Arial"/>
              </a:defRPr>
            </a:pPr>
            <a:r>
              <a:t>sentence-transformers</a:t>
            </a:r>
            <a:br/>
            <a:r>
              <a:t>ChromaDB vector store</a:t>
            </a:r>
            <a:br/>
            <a:r>
              <a:t>Hybrid search + LLM reranking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3383280" cy="19202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343400"/>
            <a:ext cx="3383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Document Processing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0120" y="4873752"/>
            <a:ext cx="141732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0120" y="4983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Arial"/>
              </a:defRPr>
            </a:pPr>
            <a:r>
              <a:t>PyMuPDF (PDF parsing)</a:t>
            </a:r>
            <a:br/>
            <a:r>
              <a:t>pytesseract (OCR fallback)</a:t>
            </a:r>
            <a:br/>
            <a:r>
              <a:t>fpdf2 (report generation)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343400"/>
            <a:ext cx="3383280" cy="19202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4343400"/>
            <a:ext cx="3383280" cy="45720"/>
          </a:xfrm>
          <a:prstGeom prst="rect">
            <a:avLst/>
          </a:prstGeom>
          <a:solidFill>
            <a:srgbClr val="E07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7733"/>
                </a:solidFill>
                <a:latin typeface="Arial"/>
              </a:defRPr>
            </a:pPr>
            <a:r>
              <a:t>Frontend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09159" y="4873752"/>
            <a:ext cx="141732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09159" y="4983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Arial"/>
              </a:defRPr>
            </a:pPr>
            <a:r>
              <a:t>React 19 + TypeScript</a:t>
            </a:r>
            <a:br/>
            <a:r>
              <a:t>Tailwind CSS 4 + Framer Motion</a:t>
            </a:r>
            <a:br/>
            <a:r>
              <a:t>Vite 8 build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9" y="4343400"/>
            <a:ext cx="3383280" cy="19202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599" y="4343400"/>
            <a:ext cx="3383280" cy="4572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199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1A1AA"/>
                </a:solidFill>
                <a:latin typeface="Arial"/>
              </a:defRPr>
            </a:pPr>
            <a:r>
              <a:t>Data &amp; Config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58199" y="4873752"/>
            <a:ext cx="141732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58199" y="4983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Arial"/>
              </a:defRPr>
            </a:pPr>
            <a:r>
              <a:t>Pydantic v2 (validation)</a:t>
            </a:r>
            <a:br/>
            <a:r>
              <a:t>File-based JSON storage</a:t>
            </a:r>
            <a:br/>
            <a:r>
              <a:t>SHA-256 deduplication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RNSIT Agentic AI Hackathon  |  PS-3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6519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6B2B"/>
                </a:solidFill>
                <a:latin typeface="Arial"/>
              </a:defRPr>
            </a:pPr>
            <a:r>
              <a:t>Suits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A6B2B"/>
                </a:solidFill>
                <a:latin typeface="Arial"/>
              </a:defRPr>
            </a:pPr>
            <a:r>
              <a:t>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2560320" cy="36576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9EA"/>
                </a:solidFill>
                <a:latin typeface="Arial"/>
              </a:defRPr>
            </a:pPr>
            <a:r>
              <a:t>Onboarding &amp; Intelligent Chat</a:t>
            </a:r>
          </a:p>
        </p:txBody>
      </p:sp>
      <p:pic>
        <p:nvPicPr>
          <p:cNvPr id="5" name="Picture 4" descr="ss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6400800" cy="3644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F9EA"/>
                </a:solidFill>
                <a:latin typeface="Arial"/>
              </a:defRPr>
            </a:pPr>
            <a:r>
              <a:t>Personalized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2286000"/>
            <a:ext cx="1828800" cy="36576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0" y="2578608"/>
            <a:ext cx="292608" cy="292608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560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9EA"/>
                </a:solidFill>
                <a:latin typeface="Arial"/>
              </a:defRPr>
            </a:pPr>
            <a:r>
              <a:t>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85292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Jurisdiction-aware analysis</a:t>
            </a:r>
            <a:br/>
            <a:r>
              <a:t>(India, USA, UK, Canada, UAE, Singapore)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3538728"/>
            <a:ext cx="292608" cy="292608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520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9EA"/>
                </a:solidFill>
                <a:latin typeface="Arial"/>
              </a:defRPr>
            </a:pPr>
            <a:r>
              <a:t>Profession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81304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Adapts depth of analysis</a:t>
            </a:r>
            <a:br/>
            <a:r>
              <a:t>(Lawyer, Business Owner, Student...)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0" y="4498848"/>
            <a:ext cx="292608" cy="292608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480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9EA"/>
                </a:solidFill>
                <a:latin typeface="Arial"/>
              </a:defRPr>
            </a:pPr>
            <a:r>
              <a:t>Use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77316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Prioritizes relevant features</a:t>
            </a:r>
            <a:br/>
            <a:r>
              <a:t>(Risk, Compliance, Negotiation...)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Context-aware legal Q&amp;A grounded</a:t>
            </a:r>
            <a:br/>
            <a:r>
              <a:t>in uploaded documents via RAG.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RNSIT Agentic AI Hackathon  |  PS-3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519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6B2B"/>
                </a:solidFill>
                <a:latin typeface="Arial"/>
              </a:defRPr>
            </a:pPr>
            <a:r>
              <a:t>Suits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A6B2B"/>
                </a:solidFill>
                <a:latin typeface="Arial"/>
              </a:defRPr>
            </a:pPr>
            <a:r>
              <a:t>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2560320" cy="36576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9EA"/>
                </a:solidFill>
                <a:latin typeface="Arial"/>
              </a:defRPr>
            </a:pPr>
            <a:r>
              <a:t>AI-Powered Legal Chat &amp;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F9EA"/>
                </a:solidFill>
                <a:latin typeface="Arial"/>
              </a:defRPr>
            </a:pPr>
            <a:r>
              <a:t>Smart Legal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828800" cy="36576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606040"/>
            <a:ext cx="164592" cy="164592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Arial"/>
              </a:defRPr>
            </a:pPr>
            <a:r>
              <a:t>Ask anything about your uploaded document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44952"/>
            <a:ext cx="164592" cy="164592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992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Arial"/>
              </a:defRPr>
            </a:pPr>
            <a:r>
              <a:t>Answers grounded in actual clauses via RAG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83864"/>
            <a:ext cx="164592" cy="164592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3814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Arial"/>
              </a:defRPr>
            </a:pPr>
            <a:r>
              <a:t>Jurisdiction-aware (Indian legal context)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22776"/>
            <a:ext cx="164592" cy="164592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7705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Arial"/>
              </a:defRPr>
            </a:pPr>
            <a:r>
              <a:t>Conversation memory across questions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361688"/>
            <a:ext cx="164592" cy="164592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3159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Arial"/>
              </a:defRPr>
            </a:pPr>
            <a:r>
              <a:t>Source citations in every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9EA"/>
                </a:solidFill>
                <a:latin typeface="Arial"/>
              </a:defRPr>
            </a:pPr>
            <a:r>
              <a:t>Legal Knowledge Library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57800"/>
            <a:ext cx="18288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406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Built-in Indian legal references — Contract Act 1872,</a:t>
            </a:r>
            <a:br/>
            <a:r>
              <a:t>Rent Control Acts, Shops &amp; Establishments Act, and more.</a:t>
            </a:r>
          </a:p>
        </p:txBody>
      </p:sp>
      <p:pic>
        <p:nvPicPr>
          <p:cNvPr id="20" name="Picture 19" descr="ss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554480"/>
            <a:ext cx="6217920" cy="354076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RNSIT Agentic AI Hackathon  |  PS-3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6519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6B2B"/>
                </a:solidFill>
                <a:latin typeface="Arial"/>
              </a:defRPr>
            </a:pPr>
            <a:r>
              <a:t>Suits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A6B2B"/>
                </a:solidFill>
                <a:latin typeface="Arial"/>
              </a:defRPr>
            </a:pPr>
            <a:r>
              <a:t>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2560320" cy="36576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9EA"/>
                </a:solidFill>
                <a:latin typeface="Arial"/>
              </a:defRPr>
            </a:pPr>
            <a:r>
              <a:t>Analysis Tools — Risk, Pipeline &amp; Negotiation</a:t>
            </a:r>
          </a:p>
        </p:txBody>
      </p:sp>
      <p:pic>
        <p:nvPicPr>
          <p:cNvPr id="5" name="Picture 4" descr="ss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5943600" cy="3384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01218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1A1AA"/>
                </a:solidFill>
                <a:latin typeface="Arial"/>
              </a:defRPr>
            </a:pPr>
            <a:r>
              <a:t>Risk Score Dashboard — Clause-Level Breakdown with Verdict</a:t>
            </a:r>
          </a:p>
        </p:txBody>
      </p:sp>
      <p:pic>
        <p:nvPicPr>
          <p:cNvPr id="7" name="Picture 6" descr="ss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5303520" cy="3020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46202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1A1AA"/>
                </a:solidFill>
                <a:latin typeface="Arial"/>
              </a:defRPr>
            </a:pPr>
            <a:r>
              <a:t>Real-Time Agent Pipeline Progress (SSE)</a:t>
            </a:r>
          </a:p>
        </p:txBody>
      </p:sp>
      <p:pic>
        <p:nvPicPr>
          <p:cNvPr id="9" name="Picture 8" descr="ss_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94580"/>
            <a:ext cx="5303520" cy="30200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79603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1A1AA"/>
                </a:solidFill>
                <a:latin typeface="Arial"/>
              </a:defRPr>
            </a:pPr>
            <a:r>
              <a:t>AI vs AI Negotiator — Advocate vs Challenger Debate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RNSIT Agentic AI Hackathon  |  PS-3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519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6B2B"/>
                </a:solidFill>
                <a:latin typeface="Arial"/>
              </a:defRPr>
            </a:pPr>
            <a:r>
              <a:t>Suits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A6B2B"/>
                </a:solidFill>
                <a:latin typeface="Arial"/>
              </a:defRPr>
            </a:pPr>
            <a:r>
              <a:t>WHAT SETS US APART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41248"/>
            <a:ext cx="2560320" cy="36576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9EA"/>
                </a:solidFill>
                <a:latin typeface="Arial"/>
              </a:defRPr>
            </a:pPr>
            <a:r>
              <a:t>Beyond Summarization — A True Legal Action Agent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57400"/>
            <a:ext cx="292608" cy="292608"/>
          </a:xfrm>
          <a:prstGeom prst="ellipse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9EA"/>
                </a:solidFill>
                <a:latin typeface="Arial"/>
              </a:defRPr>
            </a:pPr>
            <a:r>
              <a:t>Multi-Model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057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272A"/>
                </a:solidFill>
                <a:latin typeface="Arial"/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299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Each agent uses the optimal AI model for its task — Claude for deep analysis, GPT-4o-mini for chat, Gemini for creative negotiation. Not one model fits all.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788920"/>
            <a:ext cx="1069848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31520" y="2990088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44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9EA"/>
                </a:solidFill>
                <a:latin typeface="Arial"/>
              </a:defRPr>
            </a:pPr>
            <a:r>
              <a:t>Hallucination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990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272A"/>
                </a:solidFill>
                <a:latin typeface="Arial"/>
              </a:defRPr>
            </a:pPr>
            <a: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96265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Every clause reference is cross-checked against source. The Verifier catches factual errors, cross-clause conflicts, and fabricated citations before the final report.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721608"/>
            <a:ext cx="1069848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31520" y="3922776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8770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9EA"/>
                </a:solidFill>
                <a:latin typeface="Arial"/>
              </a:defRPr>
            </a:pPr>
            <a:r>
              <a:t>Jurisdiction-Aware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9227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272A"/>
                </a:solidFill>
                <a:latin typeface="Arial"/>
              </a:defRPr>
            </a:pPr>
            <a:r>
              <a:t>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89534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Built-in Indian legal context — Rent Control Acts, Section 27, Shops &amp; Establishments. Not generic AI summarization, but legally grounded analysis.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4654296"/>
            <a:ext cx="1069848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1520" y="4855464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8097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9EA"/>
                </a:solidFill>
                <a:latin typeface="Arial"/>
              </a:defRPr>
            </a:pPr>
            <a:r>
              <a:t>Real-Time Transparency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8554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272A"/>
                </a:solidFill>
                <a:latin typeface="Arial"/>
              </a:defRPr>
            </a:pPr>
            <a:r>
              <a:t>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828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Users see exactly which agent is running, on which model, in real-time via SSE streaming. Full pipeline visibility — no black box.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586984"/>
            <a:ext cx="10698480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31520" y="5788152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742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9EA"/>
                </a:solidFill>
                <a:latin typeface="Arial"/>
              </a:defRPr>
            </a:pPr>
            <a:r>
              <a:t>Actionable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7881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272A"/>
                </a:solidFill>
                <a:latin typeface="Arial"/>
              </a:defRPr>
            </a:pPr>
            <a:r>
              <a:t>|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760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Arial"/>
              </a:defRPr>
            </a:pPr>
            <a:r>
              <a:t>Delivers a verdict (Sign / Negotiate / Walk Away), negotiation playbook, and prioritized action items — not just a summary.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RNSIT Agentic AI Hackathon  |  PS-3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6519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6B2B"/>
                </a:solidFill>
                <a:latin typeface="Arial"/>
              </a:defRPr>
            </a:pPr>
            <a:r>
              <a:t>Suits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A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it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3716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283464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AF9EA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AD7A"/>
                </a:solidFill>
                <a:latin typeface="Arial"/>
              </a:defRPr>
            </a:pPr>
            <a:r>
              <a:t>"Making legal understanding accessible,</a:t>
            </a:r>
            <a:br/>
            <a:r>
              <a:t>safe, and actionable for everyone."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4846320"/>
            <a:ext cx="2133295" cy="0"/>
          </a:xfrm>
          <a:prstGeom prst="line">
            <a:avLst/>
          </a:prstGeom>
          <a:ln w="12700">
            <a:solidFill>
              <a:srgbClr val="272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0" y="502920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1A1AA"/>
                </a:solidFill>
                <a:latin typeface="Arial"/>
              </a:defRPr>
            </a:pPr>
            <a:r>
              <a:t>Suits AI  —  Multi-Agent Legal Document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Arial"/>
              </a:defRPr>
            </a:pPr>
            <a:r>
              <a:t>RNSIT Agentic AI Hackathon  |  Problem Statement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19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6B2B"/>
                </a:solidFill>
                <a:latin typeface="Arial"/>
              </a:defRPr>
            </a:pPr>
            <a:r>
              <a:t>AI Legal Document Action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